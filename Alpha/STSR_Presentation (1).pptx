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SR" id="{d90a2eb3-a618-1711-ab8d-3c664f849a78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Semi-Independent Training for Heterogeneous Multi-Agent Reinforcement Learning</a:t>
            </a:r>
            <a:endParaRPr lang="en-US" sz="2800" dirty="0"/>
          </a:p>
        </p:txBody>
      </p:sp>
      <p:sp>
        <p:nvSpPr>
          <p:cNvPr id="3" name="Card MARL"/>
          <p:cNvSpPr/>
          <p:nvPr/>
        </p:nvSpPr>
        <p:spPr>
          <a:xfrm>
            <a:off x="457200" y="155448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4" name="Head MARL"/>
          <p:cNvSpPr txBox="1"/>
          <p:nvPr/>
        </p:nvSpPr>
        <p:spPr>
          <a:xfrm>
            <a:off x="68580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is MARL?</a:t>
            </a:r>
            <a:endParaRPr lang="en-US" sz="1800" dirty="0"/>
          </a:p>
        </p:txBody>
      </p:sp>
      <p:sp>
        <p:nvSpPr>
          <p:cNvPr id="5" name="Text MARL"/>
          <p:cNvSpPr txBox="1"/>
          <p:nvPr/>
        </p:nvSpPr>
        <p:spPr>
          <a:xfrm>
            <a:off x="685800" y="2240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Multi-Agent Reinforcement Learning (MARL): multiple agents learn to cooperate in a shared environment.</a:t>
            </a:r>
            <a:endParaRPr lang="en-US" sz="1400" dirty="0"/>
          </a:p>
        </p:txBody>
      </p:sp>
      <p:sp>
        <p:nvSpPr>
          <p:cNvPr id="6" name="Label applications"/>
          <p:cNvSpPr txBox="1"/>
          <p:nvPr/>
        </p:nvSpPr>
        <p:spPr>
          <a:xfrm>
            <a:off x="68580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Useful for applications such as:</a:t>
            </a:r>
            <a:endParaRPr lang="en-US" sz="1400" dirty="0"/>
          </a:p>
        </p:txBody>
      </p:sp>
      <p:sp>
        <p:nvSpPr>
          <p:cNvPr id="7" name="Chip Robot swarms"/>
          <p:cNvSpPr/>
          <p:nvPr/>
        </p:nvSpPr>
        <p:spPr>
          <a:xfrm>
            <a:off x="685800" y="3611880"/>
            <a:ext cx="3063240" cy="301752"/>
          </a:xfrm>
          <a:prstGeom prst="roundRect">
            <a:avLst>
              <a:gd name="adj" fmla="val 2424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Robot swarms</a:t>
            </a:r>
            <a:endParaRPr lang="en-US" sz="1400" dirty="0"/>
          </a:p>
        </p:txBody>
      </p:sp>
      <p:sp>
        <p:nvSpPr>
          <p:cNvPr id="8" name="Chip Traffic management"/>
          <p:cNvSpPr/>
          <p:nvPr/>
        </p:nvSpPr>
        <p:spPr>
          <a:xfrm>
            <a:off x="685800" y="3977640"/>
            <a:ext cx="3063240" cy="301752"/>
          </a:xfrm>
          <a:prstGeom prst="roundRect">
            <a:avLst>
              <a:gd name="adj" fmla="val 2424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Traffic management</a:t>
            </a:r>
            <a:endParaRPr lang="en-US" sz="1400" dirty="0"/>
          </a:p>
        </p:txBody>
      </p:sp>
      <p:sp>
        <p:nvSpPr>
          <p:cNvPr id="9" name="Chip Sensor networks"/>
          <p:cNvSpPr/>
          <p:nvPr/>
        </p:nvSpPr>
        <p:spPr>
          <a:xfrm>
            <a:off x="685800" y="4343400"/>
            <a:ext cx="3063240" cy="301752"/>
          </a:xfrm>
          <a:prstGeom prst="roundRect">
            <a:avLst>
              <a:gd name="adj" fmla="val 2424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Sensor networks</a:t>
            </a:r>
            <a:endParaRPr lang="en-US" sz="1400" dirty="0"/>
          </a:p>
        </p:txBody>
      </p:sp>
      <p:sp>
        <p:nvSpPr>
          <p:cNvPr id="10" name="Chip Distributed systems"/>
          <p:cNvSpPr/>
          <p:nvPr/>
        </p:nvSpPr>
        <p:spPr>
          <a:xfrm>
            <a:off x="685800" y="4709160"/>
            <a:ext cx="3063240" cy="301752"/>
          </a:xfrm>
          <a:prstGeom prst="roundRect">
            <a:avLst>
              <a:gd name="adj" fmla="val 24242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Distributed systems</a:t>
            </a:r>
            <a:endParaRPr lang="en-US" sz="1400" dirty="0"/>
          </a:p>
        </p:txBody>
      </p:sp>
      <p:sp>
        <p:nvSpPr>
          <p:cNvPr id="11" name="Card heterogeneous"/>
          <p:cNvSpPr/>
          <p:nvPr/>
        </p:nvSpPr>
        <p:spPr>
          <a:xfrm>
            <a:off x="4334256" y="155448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2" name="Head challenge"/>
          <p:cNvSpPr txBox="1"/>
          <p:nvPr/>
        </p:nvSpPr>
        <p:spPr>
          <a:xfrm>
            <a:off x="4562856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challenge</a:t>
            </a:r>
            <a:endParaRPr lang="en-US" sz="1800" dirty="0"/>
          </a:p>
        </p:txBody>
      </p:sp>
      <p:sp>
        <p:nvSpPr>
          <p:cNvPr id="13" name="Text challenge"/>
          <p:cNvSpPr txBox="1"/>
          <p:nvPr/>
        </p:nvSpPr>
        <p:spPr>
          <a:xfrm>
            <a:off x="4562856" y="2240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Agents can be heterogeneous, meaning they have different: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Observation spaces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Action spaces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Roles and objectives</a:t>
            </a:r>
            <a:endParaRPr lang="en-US" sz="1400" dirty="0"/>
          </a:p>
        </p:txBody>
      </p:sp>
      <p:sp>
        <p:nvSpPr>
          <p:cNvPr id="14" name="Card parameter sharing"/>
          <p:cNvSpPr/>
          <p:nvPr/>
        </p:nvSpPr>
        <p:spPr>
          <a:xfrm>
            <a:off x="8211312" y="155448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5" name="Head sharing"/>
          <p:cNvSpPr txBox="1"/>
          <p:nvPr/>
        </p:nvSpPr>
        <p:spPr>
          <a:xfrm>
            <a:off x="8439912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Parameter sharing</a:t>
            </a:r>
            <a:endParaRPr lang="en-US" sz="1800" dirty="0"/>
          </a:p>
        </p:txBody>
      </p:sp>
      <p:sp>
        <p:nvSpPr>
          <p:cNvPr id="16" name="Text sharing"/>
          <p:cNvSpPr txBox="1"/>
          <p:nvPr/>
        </p:nvSpPr>
        <p:spPr>
          <a:xfrm>
            <a:off x="8439912" y="224028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Works well for similar (homogeneous) agents because they can learn from each other's experiences.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But directly sharing parameters between very different agents can: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Reduce specialization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convergence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 different input/output dimensions difficult to handle</a:t>
            </a:r>
            <a:endParaRPr lang="en-US" sz="1400" dirty="0"/>
          </a:p>
        </p:txBody>
      </p:sp>
      <p:sp>
        <p:nvSpPr>
          <p:cNvPr id="17" name="Problem banner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8" name="Problem text"/>
          <p:cNvSpPr txBox="1"/>
          <p:nvPr/>
        </p:nvSpPr>
        <p:spPr>
          <a:xfrm>
            <a:off x="777240" y="539496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Problem: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How can heterogeneous agents share knowledge while still maintaining their individual specialization?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Semi-Independent Training Policy with Shared Representation (STSR)</a:t>
            </a:r>
            <a:endParaRPr lang="en-US" sz="2800" dirty="0"/>
          </a:p>
        </p:txBody>
      </p:sp>
      <p:sp>
        <p:nvSpPr>
          <p:cNvPr id="3" name="Intro line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paper proposes STSR, which combines knowledge sharing with agent specialization.</a:t>
            </a:r>
            <a:endParaRPr lang="en-US" sz="1600" dirty="0"/>
          </a:p>
        </p:txBody>
      </p:sp>
      <p:sp>
        <p:nvSpPr>
          <p:cNvPr id="4" name="Card component 1"/>
          <p:cNvSpPr/>
          <p:nvPr/>
        </p:nvSpPr>
        <p:spPr>
          <a:xfrm>
            <a:off x="457200" y="1920240"/>
            <a:ext cx="352044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685800" y="212140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Head component 1"/>
          <p:cNvSpPr txBox="1"/>
          <p:nvPr/>
        </p:nvSpPr>
        <p:spPr>
          <a:xfrm>
            <a:off x="1234440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Common Representation</a:t>
            </a:r>
            <a:endParaRPr lang="en-US" sz="1700" dirty="0"/>
          </a:p>
        </p:txBody>
      </p:sp>
      <p:sp>
        <p:nvSpPr>
          <p:cNvPr id="7" name="Text component 1"/>
          <p:cNvSpPr txBox="1"/>
          <p:nvPr/>
        </p:nvSpPr>
        <p:spPr>
          <a:xfrm>
            <a:off x="685800" y="283464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supervised-learning model converts different agents' observations and actions into a shared latent representation.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Allows agents with different input/output spaces to use a common representation.</a:t>
            </a:r>
            <a:endParaRPr lang="en-US" sz="1400" dirty="0"/>
          </a:p>
        </p:txBody>
      </p:sp>
      <p:sp>
        <p:nvSpPr>
          <p:cNvPr id="8" name="Card component 2"/>
          <p:cNvSpPr/>
          <p:nvPr/>
        </p:nvSpPr>
        <p:spPr>
          <a:xfrm>
            <a:off x="4334256" y="1920240"/>
            <a:ext cx="352044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4562856" y="212140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Head component 2"/>
          <p:cNvSpPr txBox="1"/>
          <p:nvPr/>
        </p:nvSpPr>
        <p:spPr>
          <a:xfrm>
            <a:off x="5111496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Semi-Independent Parameter Sharing</a:t>
            </a:r>
            <a:endParaRPr lang="en-US" sz="1700" dirty="0"/>
          </a:p>
        </p:txBody>
      </p:sp>
      <p:sp>
        <p:nvSpPr>
          <p:cNvPr id="11" name="Text component 2"/>
          <p:cNvSpPr txBox="1"/>
          <p:nvPr/>
        </p:nvSpPr>
        <p:spPr>
          <a:xfrm>
            <a:off x="4562856" y="283464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agent type → full parameter sharing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Different agent types → partial / hard parameter sharing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Agents learn common knowledge while retaining specialized behavior.</a:t>
            </a:r>
            <a:endParaRPr lang="en-US" sz="1400" dirty="0"/>
          </a:p>
        </p:txBody>
      </p:sp>
      <p:sp>
        <p:nvSpPr>
          <p:cNvPr id="12" name="Card component 3"/>
          <p:cNvSpPr/>
          <p:nvPr/>
        </p:nvSpPr>
        <p:spPr>
          <a:xfrm>
            <a:off x="8211312" y="1920240"/>
            <a:ext cx="352044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/>
          <p:nvPr/>
        </p:nvSpPr>
        <p:spPr>
          <a:xfrm>
            <a:off x="8439912" y="212140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Head component 3"/>
          <p:cNvSpPr txBox="1"/>
          <p:nvPr/>
        </p:nvSpPr>
        <p:spPr>
          <a:xfrm>
            <a:off x="8988552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Intrinsic Rewards</a:t>
            </a:r>
            <a:endParaRPr lang="en-US" sz="1700" dirty="0"/>
          </a:p>
        </p:txBody>
      </p:sp>
      <p:sp>
        <p:nvSpPr>
          <p:cNvPr id="15" name="Text component 3"/>
          <p:cNvSpPr txBox="1"/>
          <p:nvPr/>
        </p:nvSpPr>
        <p:spPr>
          <a:xfrm>
            <a:off x="8439912" y="283464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Additional rewards encourage: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Exploration of unfamiliar states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Different representations for different agent types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Similar representations for agents of the same type</a:t>
            </a:r>
            <a:endParaRPr lang="en-US" sz="1400" dirty="0"/>
          </a:p>
        </p:txBody>
      </p:sp>
      <p:sp>
        <p:nvSpPr>
          <p:cNvPr id="16" name="Main idea banner"/>
          <p:cNvSpPr/>
          <p:nvPr/>
        </p:nvSpPr>
        <p:spPr>
          <a:xfrm>
            <a:off x="457200" y="5577840"/>
            <a:ext cx="11274552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7" name="Main idea text"/>
          <p:cNvSpPr txBox="1"/>
          <p:nvPr/>
        </p:nvSpPr>
        <p:spPr>
          <a:xfrm>
            <a:off x="777240" y="557784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Main idea:  </a:t>
            </a:r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Share what agents have in common, but preserve what makes each agent different.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STSR Framework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Training Process</a:t>
            </a:r>
            <a:endParaRPr lang="en-US" sz="1600" dirty="0"/>
          </a:p>
        </p:txBody>
      </p:sp>
      <p:sp>
        <p:nvSpPr>
          <p:cNvPr id="4" name="Card step 1"/>
          <p:cNvSpPr/>
          <p:nvPr/>
        </p:nvSpPr>
        <p:spPr>
          <a:xfrm>
            <a:off x="457200" y="1417320"/>
            <a:ext cx="35204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5" name="Step label 1"/>
          <p:cNvSpPr txBox="1"/>
          <p:nvPr/>
        </p:nvSpPr>
        <p:spPr>
          <a:xfrm>
            <a:off x="685800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STEP 1</a:t>
            </a:r>
            <a:endParaRPr lang="en-US" sz="1200" dirty="0"/>
          </a:p>
        </p:txBody>
      </p:sp>
      <p:sp>
        <p:nvSpPr>
          <p:cNvPr id="6" name="Step title 1"/>
          <p:cNvSpPr txBox="1"/>
          <p:nvPr/>
        </p:nvSpPr>
        <p:spPr>
          <a:xfrm>
            <a:off x="685800" y="18562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Learn a shared representation</a:t>
            </a:r>
            <a:endParaRPr lang="en-US" sz="1800" dirty="0"/>
          </a:p>
        </p:txBody>
      </p:sp>
      <p:sp>
        <p:nvSpPr>
          <p:cNvPr id="7" name="Step text 1"/>
          <p:cNvSpPr txBox="1"/>
          <p:nvPr/>
        </p:nvSpPr>
        <p:spPr>
          <a:xfrm>
            <a:off x="685800" y="25146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RNN-based encoder-decoder learns representations of observations and actions.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learns to predict future observations and rewards.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creates a common representation that can handle heterogeneous agents.</a:t>
            </a:r>
            <a:endParaRPr lang="en-US" sz="1400" dirty="0"/>
          </a:p>
        </p:txBody>
      </p:sp>
      <p:sp>
        <p:nvSpPr>
          <p:cNvPr id="8" name="Card step 2"/>
          <p:cNvSpPr/>
          <p:nvPr/>
        </p:nvSpPr>
        <p:spPr>
          <a:xfrm>
            <a:off x="4334256" y="1417320"/>
            <a:ext cx="35204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9" name="Step label 2"/>
          <p:cNvSpPr txBox="1"/>
          <p:nvPr/>
        </p:nvSpPr>
        <p:spPr>
          <a:xfrm>
            <a:off x="4562856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STEP 2</a:t>
            </a:r>
            <a:endParaRPr lang="en-US" sz="1200" dirty="0"/>
          </a:p>
        </p:txBody>
      </p:sp>
      <p:sp>
        <p:nvSpPr>
          <p:cNvPr id="10" name="Step title 2"/>
          <p:cNvSpPr txBox="1"/>
          <p:nvPr/>
        </p:nvSpPr>
        <p:spPr>
          <a:xfrm>
            <a:off x="4562856" y="18562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 intrinsic rewards</a:t>
            </a:r>
            <a:endParaRPr lang="en-US" sz="1800" dirty="0"/>
          </a:p>
        </p:txBody>
      </p:sp>
      <p:sp>
        <p:nvSpPr>
          <p:cNvPr id="11" name="Step text 2"/>
          <p:cNvSpPr txBox="1"/>
          <p:nvPr/>
        </p:nvSpPr>
        <p:spPr>
          <a:xfrm>
            <a:off x="4562856" y="25146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Exploration reward: encourages agents to explore novel states.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Representation reward: encourages: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Similar representations for agents of the same type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Different representations for different types</a:t>
            </a:r>
            <a:endParaRPr lang="en-US" sz="1400" dirty="0"/>
          </a:p>
        </p:txBody>
      </p:sp>
      <p:sp>
        <p:nvSpPr>
          <p:cNvPr id="12" name="Card step 3"/>
          <p:cNvSpPr/>
          <p:nvPr/>
        </p:nvSpPr>
        <p:spPr>
          <a:xfrm>
            <a:off x="8211312" y="1417320"/>
            <a:ext cx="35204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13" name="Step label 3"/>
          <p:cNvSpPr txBox="1"/>
          <p:nvPr/>
        </p:nvSpPr>
        <p:spPr>
          <a:xfrm>
            <a:off x="8439912" y="16002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STEP 3</a:t>
            </a:r>
            <a:endParaRPr lang="en-US" sz="1200" dirty="0"/>
          </a:p>
        </p:txBody>
      </p:sp>
      <p:sp>
        <p:nvSpPr>
          <p:cNvPr id="14" name="Step title 3"/>
          <p:cNvSpPr txBox="1"/>
          <p:nvPr/>
        </p:nvSpPr>
        <p:spPr>
          <a:xfrm>
            <a:off x="8439912" y="18562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Train policies</a:t>
            </a:r>
            <a:endParaRPr lang="en-US" sz="1800" dirty="0"/>
          </a:p>
        </p:txBody>
      </p:sp>
      <p:sp>
        <p:nvSpPr>
          <p:cNvPr id="15" name="Step text 3"/>
          <p:cNvSpPr txBox="1"/>
          <p:nvPr/>
        </p:nvSpPr>
        <p:spPr>
          <a:xfrm>
            <a:off x="8439912" y="25146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Agents of the same type share all parameters.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Different types share lower/common layers while maintaining specialized policy components.</a:t>
            </a:r>
            <a:endParaRPr lang="en-US" sz="1400" dirty="0"/>
          </a:p>
        </p:txBody>
      </p:sp>
      <p:sp>
        <p:nvSpPr>
          <p:cNvPr id="16" name="Flow label"/>
          <p:cNvSpPr txBox="1"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Overall flow</a:t>
            </a:r>
            <a:endParaRPr lang="en-US" sz="1400" dirty="0"/>
          </a:p>
        </p:txBody>
      </p:sp>
      <p:sp>
        <p:nvSpPr>
          <p:cNvPr id="17" name="Flow box 1"/>
          <p:cNvSpPr/>
          <p:nvPr/>
        </p:nvSpPr>
        <p:spPr>
          <a:xfrm>
            <a:off x="457200" y="53035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Observations &amp; Actions</a:t>
            </a:r>
            <a:endParaRPr lang="en-US" sz="1400" dirty="0"/>
          </a:p>
        </p:txBody>
      </p:sp>
      <p:sp>
        <p:nvSpPr>
          <p:cNvPr id="18" name="Flow arrow 1"/>
          <p:cNvSpPr/>
          <p:nvPr/>
        </p:nvSpPr>
        <p:spPr>
          <a:xfrm>
            <a:off x="2505456" y="5609844"/>
            <a:ext cx="22860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9" name="Flow box 2"/>
          <p:cNvSpPr/>
          <p:nvPr/>
        </p:nvSpPr>
        <p:spPr>
          <a:xfrm>
            <a:off x="2770632" y="53035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Shared Representation</a:t>
            </a:r>
            <a:endParaRPr lang="en-US" sz="1400" dirty="0"/>
          </a:p>
        </p:txBody>
      </p:sp>
      <p:sp>
        <p:nvSpPr>
          <p:cNvPr id="20" name="Flow arrow 2"/>
          <p:cNvSpPr/>
          <p:nvPr/>
        </p:nvSpPr>
        <p:spPr>
          <a:xfrm>
            <a:off x="4818888" y="5609844"/>
            <a:ext cx="22860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1" name="Flow box 3"/>
          <p:cNvSpPr/>
          <p:nvPr/>
        </p:nvSpPr>
        <p:spPr>
          <a:xfrm>
            <a:off x="5084064" y="53035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Parameter Sharing</a:t>
            </a:r>
            <a:endParaRPr lang="en-US" sz="1400" dirty="0"/>
          </a:p>
        </p:txBody>
      </p:sp>
      <p:sp>
        <p:nvSpPr>
          <p:cNvPr id="22" name="Flow arrow 3"/>
          <p:cNvSpPr/>
          <p:nvPr/>
        </p:nvSpPr>
        <p:spPr>
          <a:xfrm>
            <a:off x="7132320" y="5609844"/>
            <a:ext cx="22860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3" name="Flow box 4"/>
          <p:cNvSpPr/>
          <p:nvPr/>
        </p:nvSpPr>
        <p:spPr>
          <a:xfrm>
            <a:off x="7397496" y="53035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Specialized Policies</a:t>
            </a:r>
            <a:endParaRPr lang="en-US" sz="1400" dirty="0"/>
          </a:p>
        </p:txBody>
      </p:sp>
      <p:sp>
        <p:nvSpPr>
          <p:cNvPr id="24" name="Flow arrow 4"/>
          <p:cNvSpPr/>
          <p:nvPr/>
        </p:nvSpPr>
        <p:spPr>
          <a:xfrm>
            <a:off x="9445752" y="5609844"/>
            <a:ext cx="22860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5" name="Flow box 5"/>
          <p:cNvSpPr/>
          <p:nvPr/>
        </p:nvSpPr>
        <p:spPr>
          <a:xfrm>
            <a:off x="9710928" y="530352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Cooperative Behavior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Experiments and Results</a:t>
            </a:r>
            <a:endParaRPr lang="en-US" sz="2800" dirty="0"/>
          </a:p>
        </p:txBody>
      </p:sp>
      <p:sp>
        <p:nvSpPr>
          <p:cNvPr id="3" name="Card setup"/>
          <p:cNvSpPr/>
          <p:nvPr/>
        </p:nvSpPr>
        <p:spPr>
          <a:xfrm>
            <a:off x="457200" y="1188720"/>
            <a:ext cx="3200400" cy="51663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Head setup"/>
          <p:cNvSpPr txBox="1"/>
          <p:nvPr/>
        </p:nvSpPr>
        <p:spPr>
          <a:xfrm>
            <a:off x="6858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Experimental Setup</a:t>
            </a:r>
            <a:endParaRPr lang="en-US" sz="1800" dirty="0"/>
          </a:p>
        </p:txBody>
      </p:sp>
      <p:sp>
        <p:nvSpPr>
          <p:cNvPr id="5" name="Text setup"/>
          <p:cNvSpPr txBox="1"/>
          <p:nvPr/>
        </p:nvSpPr>
        <p:spPr>
          <a:xfrm>
            <a:off x="685800" y="18745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Tested on the StarCraft Multi-Agent Challenge (SMAC) benchmark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Evaluated 14 different scenarios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Included both homogeneous and heterogeneous environments</a:t>
            </a:r>
            <a:endParaRPr lang="en-US" sz="1400" dirty="0"/>
          </a:p>
        </p:txBody>
      </p:sp>
      <p:sp>
        <p:nvSpPr>
          <p:cNvPr id="6" name="Label baselines"/>
          <p:cNvSpPr txBox="1"/>
          <p:nvPr/>
        </p:nvSpPr>
        <p:spPr>
          <a:xfrm>
            <a:off x="6858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Compared STSR against:</a:t>
            </a:r>
            <a:endParaRPr lang="en-US" sz="1400" dirty="0"/>
          </a:p>
        </p:txBody>
      </p:sp>
      <p:sp>
        <p:nvSpPr>
          <p:cNvPr id="7" name="Baseline VDN"/>
          <p:cNvSpPr/>
          <p:nvPr/>
        </p:nvSpPr>
        <p:spPr>
          <a:xfrm>
            <a:off x="685800" y="4846320"/>
            <a:ext cx="841248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VDN</a:t>
            </a:r>
            <a:endParaRPr lang="en-US" sz="1400" dirty="0"/>
          </a:p>
        </p:txBody>
      </p:sp>
      <p:sp>
        <p:nvSpPr>
          <p:cNvPr id="8" name="Baseline QMIX"/>
          <p:cNvSpPr/>
          <p:nvPr/>
        </p:nvSpPr>
        <p:spPr>
          <a:xfrm>
            <a:off x="1636776" y="4846320"/>
            <a:ext cx="841248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QMIX</a:t>
            </a:r>
            <a:endParaRPr lang="en-US" sz="1400" dirty="0"/>
          </a:p>
        </p:txBody>
      </p:sp>
      <p:sp>
        <p:nvSpPr>
          <p:cNvPr id="9" name="Baseline QPLEX"/>
          <p:cNvSpPr/>
          <p:nvPr/>
        </p:nvSpPr>
        <p:spPr>
          <a:xfrm>
            <a:off x="2587752" y="4846320"/>
            <a:ext cx="841248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QPLEX</a:t>
            </a:r>
            <a:endParaRPr lang="en-US" sz="1400" dirty="0"/>
          </a:p>
        </p:txBody>
      </p:sp>
      <p:sp>
        <p:nvSpPr>
          <p:cNvPr id="10" name="Baseline ROMA"/>
          <p:cNvSpPr/>
          <p:nvPr/>
        </p:nvSpPr>
        <p:spPr>
          <a:xfrm>
            <a:off x="685800" y="5303520"/>
            <a:ext cx="841248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ROMA</a:t>
            </a:r>
            <a:endParaRPr lang="en-US" sz="1400" dirty="0"/>
          </a:p>
        </p:txBody>
      </p:sp>
      <p:sp>
        <p:nvSpPr>
          <p:cNvPr id="11" name="Baseline RODE"/>
          <p:cNvSpPr/>
          <p:nvPr/>
        </p:nvSpPr>
        <p:spPr>
          <a:xfrm>
            <a:off x="1636776" y="5303520"/>
            <a:ext cx="841248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RODE</a:t>
            </a:r>
            <a:endParaRPr lang="en-US" sz="1400" dirty="0"/>
          </a:p>
        </p:txBody>
      </p:sp>
      <p:sp>
        <p:nvSpPr>
          <p:cNvPr id="12" name="Baseline CDS"/>
          <p:cNvSpPr/>
          <p:nvPr/>
        </p:nvSpPr>
        <p:spPr>
          <a:xfrm>
            <a:off x="2587752" y="5303520"/>
            <a:ext cx="841248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CDS</a:t>
            </a:r>
            <a:endParaRPr lang="en-US" sz="1400" dirty="0"/>
          </a:p>
        </p:txBody>
      </p:sp>
      <p:sp>
        <p:nvSpPr>
          <p:cNvPr id="13" name="Card key results"/>
          <p:cNvSpPr/>
          <p:nvPr/>
        </p:nvSpPr>
        <p:spPr>
          <a:xfrm>
            <a:off x="3931920" y="1188720"/>
            <a:ext cx="4206240" cy="516636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Head results"/>
          <p:cNvSpPr txBox="1"/>
          <p:nvPr/>
        </p:nvSpPr>
        <p:spPr>
          <a:xfrm>
            <a:off x="416052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Results</a:t>
            </a:r>
            <a:endParaRPr lang="en-US" sz="1800" dirty="0"/>
          </a:p>
        </p:txBody>
      </p:sp>
      <p:sp>
        <p:nvSpPr>
          <p:cNvPr id="15" name="Result headline"/>
          <p:cNvSpPr txBox="1"/>
          <p:nvPr/>
        </p:nvSpPr>
        <p:spPr>
          <a:xfrm>
            <a:off x="4160520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STSR performed particularly well in heterogeneous environments.</a:t>
            </a:r>
            <a:endParaRPr lang="en-US" sz="1600" dirty="0"/>
          </a:p>
        </p:txBody>
      </p:sp>
      <p:sp>
        <p:nvSpPr>
          <p:cNvPr id="16" name="Label best"/>
          <p:cNvSpPr txBox="1"/>
          <p:nvPr/>
        </p:nvSpPr>
        <p:spPr>
          <a:xfrm>
            <a:off x="416052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achieved the best performance in:</a:t>
            </a:r>
            <a:endParaRPr lang="en-US" sz="1400" dirty="0"/>
          </a:p>
        </p:txBody>
      </p:sp>
      <p:sp>
        <p:nvSpPr>
          <p:cNvPr id="17" name="Best scenario 1"/>
          <p:cNvSpPr/>
          <p:nvPr/>
        </p:nvSpPr>
        <p:spPr>
          <a:xfrm>
            <a:off x="4160520" y="315468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3s5z vs. 3s6z</a:t>
            </a:r>
            <a:endParaRPr lang="en-US" sz="2000" dirty="0"/>
          </a:p>
        </p:txBody>
      </p:sp>
      <p:sp>
        <p:nvSpPr>
          <p:cNvPr id="18" name="Best scenario 2"/>
          <p:cNvSpPr/>
          <p:nvPr/>
        </p:nvSpPr>
        <p:spPr>
          <a:xfrm>
            <a:off x="6126480" y="315468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MMM2</a:t>
            </a:r>
            <a:endParaRPr lang="en-US" sz="2000" dirty="0"/>
          </a:p>
        </p:txBody>
      </p:sp>
      <p:sp>
        <p:nvSpPr>
          <p:cNvPr id="19" name="Text results"/>
          <p:cNvSpPr txBox="1"/>
          <p:nvPr/>
        </p:nvSpPr>
        <p:spPr>
          <a:xfrm>
            <a:off x="4160520" y="42062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ranked second in some other tested scenarios.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Faster convergence, particularly when agents had different types and roles.</a:t>
            </a:r>
            <a:endParaRPr lang="en-US" sz="1400" dirty="0"/>
          </a:p>
        </p:txBody>
      </p:sp>
      <p:sp>
        <p:nvSpPr>
          <p:cNvPr id="20" name="Card ablation"/>
          <p:cNvSpPr/>
          <p:nvPr/>
        </p:nvSpPr>
        <p:spPr>
          <a:xfrm>
            <a:off x="8412480" y="1188720"/>
            <a:ext cx="3319272" cy="5166360"/>
          </a:xfrm>
          <a:prstGeom prst="roundRect">
            <a:avLst>
              <a:gd name="adj" fmla="val 2755"/>
            </a:avLst>
          </a:prstGeom>
          <a:solidFill>
            <a:schemeClr val="bg2"/>
          </a:solidFill>
          <a:ln/>
        </p:spPr>
      </p:sp>
      <p:sp>
        <p:nvSpPr>
          <p:cNvPr id="21" name="Head ablation"/>
          <p:cNvSpPr txBox="1"/>
          <p:nvPr/>
        </p:nvSpPr>
        <p:spPr>
          <a:xfrm>
            <a:off x="8641080" y="137160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Ablation Study</a:t>
            </a:r>
            <a:endParaRPr lang="en-US" sz="1800" dirty="0"/>
          </a:p>
        </p:txBody>
      </p:sp>
      <p:sp>
        <p:nvSpPr>
          <p:cNvPr id="22" name="Text ablation"/>
          <p:cNvSpPr txBox="1"/>
          <p:nvPr/>
        </p:nvSpPr>
        <p:spPr>
          <a:xfrm>
            <a:off x="8641080" y="1874520"/>
            <a:ext cx="28620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Removing components reduced performance: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Representation learning → worse results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Representation updates → worse results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Exploration reward → worse performance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Hard parameter sharing → reduced training efficiency</a:t>
            </a:r>
            <a:endParaRPr lang="en-US" sz="1400" dirty="0"/>
          </a:p>
        </p:txBody>
      </p:sp>
      <p:sp>
        <p:nvSpPr>
          <p:cNvPr id="23" name="Ablation conclusion"/>
          <p:cNvSpPr/>
          <p:nvPr/>
        </p:nvSpPr>
        <p:spPr>
          <a:xfrm>
            <a:off x="8595360" y="4800600"/>
            <a:ext cx="2953512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 major STSR components contribute positively, with parameter sharing particularly helping training speed.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3" name="Card takeaways"/>
          <p:cNvSpPr/>
          <p:nvPr/>
        </p:nvSpPr>
        <p:spPr>
          <a:xfrm>
            <a:off x="457200" y="1188720"/>
            <a:ext cx="630936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/>
        </p:spPr>
      </p:sp>
      <p:sp>
        <p:nvSpPr>
          <p:cNvPr id="4" name="Head takeaways"/>
          <p:cNvSpPr txBox="1"/>
          <p:nvPr/>
        </p:nvSpPr>
        <p:spPr>
          <a:xfrm>
            <a:off x="685800" y="1371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5" name="Text takeaways"/>
          <p:cNvSpPr txBox="1"/>
          <p:nvPr/>
        </p:nvSpPr>
        <p:spPr>
          <a:xfrm>
            <a:off x="685800" y="1874520"/>
            <a:ext cx="5852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STSR addresses the conflict between knowledge sharing and specialization in heterogeneous MARL.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combines: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Shared representations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Semi-independent parameter sharing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Intrinsic rewards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method performs especially well for heterogeneous agents.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Learned representations can also be transferred to new agents/tasks without retraining the entire system.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STSR shows potential for curriculum learning and representation transfer.</a:t>
            </a:r>
            <a:endParaRPr lang="en-US" sz="1400" dirty="0"/>
          </a:p>
        </p:txBody>
      </p:sp>
      <p:sp>
        <p:nvSpPr>
          <p:cNvPr id="6" name="Card limitations"/>
          <p:cNvSpPr/>
          <p:nvPr/>
        </p:nvSpPr>
        <p:spPr>
          <a:xfrm>
            <a:off x="7123176" y="1188720"/>
            <a:ext cx="4608576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/>
        </p:spPr>
      </p:sp>
      <p:sp>
        <p:nvSpPr>
          <p:cNvPr id="7" name="Head limitations"/>
          <p:cNvSpPr txBox="1"/>
          <p:nvPr/>
        </p:nvSpPr>
        <p:spPr>
          <a:xfrm>
            <a:off x="7351776" y="1371600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8" name="Text limitations"/>
          <p:cNvSpPr txBox="1"/>
          <p:nvPr/>
        </p:nvSpPr>
        <p:spPr>
          <a:xfrm>
            <a:off x="7351776" y="1874520"/>
            <a:ext cx="415137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STSR is less effective for homogeneous environments.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Performance can also decrease when there are very large groups of agents of the same type.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authors suggest future work on better agent clustering and parameter-sharing group sizes.</a:t>
            </a:r>
            <a:endParaRPr lang="en-US" sz="1400" dirty="0"/>
          </a:p>
        </p:txBody>
      </p:sp>
      <p:sp>
        <p:nvSpPr>
          <p:cNvPr id="9" name="Final message banner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Final message label"/>
          <p:cNvSpPr txBox="1"/>
          <p:nvPr/>
        </p:nvSpPr>
        <p:spPr>
          <a:xfrm>
            <a:off x="777240" y="5394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STSR provides a balance between:</a:t>
            </a:r>
            <a:endParaRPr lang="en-US" sz="1800" dirty="0"/>
          </a:p>
        </p:txBody>
      </p:sp>
      <p:sp>
        <p:nvSpPr>
          <p:cNvPr id="11" name="Pill sharing"/>
          <p:cNvSpPr/>
          <p:nvPr/>
        </p:nvSpPr>
        <p:spPr>
          <a:xfrm>
            <a:off x="4572000" y="562356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Knowledge Sharing</a:t>
            </a:r>
            <a:endParaRPr lang="en-US" sz="1800" dirty="0"/>
          </a:p>
        </p:txBody>
      </p:sp>
      <p:sp>
        <p:nvSpPr>
          <p:cNvPr id="12" name="Pill arrow"/>
          <p:cNvSpPr txBox="1"/>
          <p:nvPr/>
        </p:nvSpPr>
        <p:spPr>
          <a:xfrm>
            <a:off x="7589520" y="5577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↔</a:t>
            </a:r>
            <a:endParaRPr lang="en-US" sz="2800" dirty="0"/>
          </a:p>
        </p:txBody>
      </p:sp>
      <p:sp>
        <p:nvSpPr>
          <p:cNvPr id="13" name="Pill specialization"/>
          <p:cNvSpPr/>
          <p:nvPr/>
        </p:nvSpPr>
        <p:spPr>
          <a:xfrm>
            <a:off x="8321040" y="562356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Agent Specialization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SR Student">
  <a:themeElements>
    <a:clrScheme name="STSR Student">
      <a:dk1>
        <a:srgbClr val="222B38"/>
      </a:dk1>
      <a:lt1>
        <a:srgbClr val="FFFFFF"/>
      </a:lt1>
      <a:dk2>
        <a:srgbClr val="1F4E79"/>
      </a:dk2>
      <a:lt2>
        <a:srgbClr val="EEF3F8"/>
      </a:lt2>
      <a:accent1>
        <a:srgbClr val="1F4E79"/>
      </a:accent1>
      <a:accent2>
        <a:srgbClr val="C65D17"/>
      </a:accent2>
      <a:accent3>
        <a:srgbClr val="5A6572"/>
      </a:accent3>
      <a:accent4>
        <a:srgbClr val="6B8FB5"/>
      </a:accent4>
      <a:accent5>
        <a:srgbClr val="F2B27E"/>
      </a:accent5>
      <a:accent6>
        <a:srgbClr val="9AA5B1"/>
      </a:accent6>
      <a:hlink>
        <a:srgbClr val="1F4E79"/>
      </a:hlink>
      <a:folHlink>
        <a:srgbClr val="5A6572"/>
      </a:folHlink>
    </a:clrScheme>
    <a:fontScheme name="STSR Stud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Semi-Independent Training for Heterogeneous MARL</dc:title>
  <dc:subject>PptxGenJS Presentation</dc:subject>
  <dc:creator>PptxGenJS</dc:creator>
  <cp:lastModifiedBy>PptxGenJS</cp:lastModifiedBy>
  <cp:revision>1</cp:revision>
  <dcterms:created xsi:type="dcterms:W3CDTF">2026-10-04T14:47:37Z</dcterms:created>
  <dcterms:modified xsi:type="dcterms:W3CDTF">2026-10-04T14:47:37Z</dcterms:modified>
</cp:coreProperties>
</file>